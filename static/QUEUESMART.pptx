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6" r:id="rId4"/>
  </p:sldMasterIdLst>
  <p:sldIdLst>
    <p:sldId id="268" r:id="rId5"/>
    <p:sldId id="269" r:id="rId6"/>
    <p:sldId id="271" r:id="rId7"/>
    <p:sldId id="270" r:id="rId8"/>
    <p:sldId id="272" r:id="rId9"/>
    <p:sldId id="273" r:id="rId10"/>
    <p:sldId id="275" r:id="rId11"/>
    <p:sldId id="279" r:id="rId12"/>
    <p:sldId id="281" r:id="rId13"/>
    <p:sldId id="282" r:id="rId14"/>
    <p:sldId id="280" r:id="rId15"/>
    <p:sldId id="276" r:id="rId16"/>
    <p:sldId id="277"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C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136319-A15A-41F0-BD11-8764C70DD0C9}" v="8" dt="2026-01-10T00:17:24.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7" d="100"/>
          <a:sy n="77" d="100"/>
        </p:scale>
        <p:origin x="77"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fih nazar" userId="47d9d9818ae18c6b" providerId="LiveId" clId="{0003A4F6-0805-450D-AF7C-9CD450E09FA5}"/>
    <pc:docChg chg="undo custSel addSld modSld">
      <pc:chgData name="nafih nazar" userId="47d9d9818ae18c6b" providerId="LiveId" clId="{0003A4F6-0805-450D-AF7C-9CD450E09FA5}" dt="2026-01-10T00:17:44.378" v="75" actId="1076"/>
      <pc:docMkLst>
        <pc:docMk/>
      </pc:docMkLst>
      <pc:sldChg chg="addSp delSp modSp add mod">
        <pc:chgData name="nafih nazar" userId="47d9d9818ae18c6b" providerId="LiveId" clId="{0003A4F6-0805-450D-AF7C-9CD450E09FA5}" dt="2026-01-10T00:15:36.400" v="49" actId="1076"/>
        <pc:sldMkLst>
          <pc:docMk/>
          <pc:sldMk cId="2093218972" sldId="281"/>
        </pc:sldMkLst>
        <pc:spChg chg="mod">
          <ac:chgData name="nafih nazar" userId="47d9d9818ae18c6b" providerId="LiveId" clId="{0003A4F6-0805-450D-AF7C-9CD450E09FA5}" dt="2026-01-10T00:12:39.518" v="21" actId="20577"/>
          <ac:spMkLst>
            <pc:docMk/>
            <pc:sldMk cId="2093218972" sldId="281"/>
            <ac:spMk id="2" creationId="{076B0C30-8A27-5BF2-3662-BF087E768215}"/>
          </ac:spMkLst>
        </pc:spChg>
        <pc:spChg chg="add del mod">
          <ac:chgData name="nafih nazar" userId="47d9d9818ae18c6b" providerId="LiveId" clId="{0003A4F6-0805-450D-AF7C-9CD450E09FA5}" dt="2026-01-10T00:13:21.868" v="30" actId="931"/>
          <ac:spMkLst>
            <pc:docMk/>
            <pc:sldMk cId="2093218972" sldId="281"/>
            <ac:spMk id="3" creationId="{90E96476-B452-B782-1599-42FACA88C2B2}"/>
          </ac:spMkLst>
        </pc:spChg>
        <pc:picChg chg="add mod">
          <ac:chgData name="nafih nazar" userId="47d9d9818ae18c6b" providerId="LiveId" clId="{0003A4F6-0805-450D-AF7C-9CD450E09FA5}" dt="2026-01-10T00:13:15.193" v="29" actId="931"/>
          <ac:picMkLst>
            <pc:docMk/>
            <pc:sldMk cId="2093218972" sldId="281"/>
            <ac:picMk id="5" creationId="{D900A996-AE20-D992-DBAF-3B3957D16A62}"/>
          </ac:picMkLst>
        </pc:picChg>
        <pc:picChg chg="add mod">
          <ac:chgData name="nafih nazar" userId="47d9d9818ae18c6b" providerId="LiveId" clId="{0003A4F6-0805-450D-AF7C-9CD450E09FA5}" dt="2026-01-10T00:13:14.686" v="28" actId="14100"/>
          <ac:picMkLst>
            <pc:docMk/>
            <pc:sldMk cId="2093218972" sldId="281"/>
            <ac:picMk id="7" creationId="{8B314A90-93D6-4FDA-8CB8-73EC663BF8B8}"/>
          </ac:picMkLst>
        </pc:picChg>
        <pc:picChg chg="add mod">
          <ac:chgData name="nafih nazar" userId="47d9d9818ae18c6b" providerId="LiveId" clId="{0003A4F6-0805-450D-AF7C-9CD450E09FA5}" dt="2026-01-10T00:13:14.686" v="28" actId="14100"/>
          <ac:picMkLst>
            <pc:docMk/>
            <pc:sldMk cId="2093218972" sldId="281"/>
            <ac:picMk id="9" creationId="{43DB70C4-28A5-1495-EBE9-9F67BEC13CBC}"/>
          </ac:picMkLst>
        </pc:picChg>
        <pc:picChg chg="add mod">
          <ac:chgData name="nafih nazar" userId="47d9d9818ae18c6b" providerId="LiveId" clId="{0003A4F6-0805-450D-AF7C-9CD450E09FA5}" dt="2026-01-10T00:13:14.686" v="28" actId="14100"/>
          <ac:picMkLst>
            <pc:docMk/>
            <pc:sldMk cId="2093218972" sldId="281"/>
            <ac:picMk id="11" creationId="{06450F30-C730-C292-9A1D-BBFE0AB81C1F}"/>
          </ac:picMkLst>
        </pc:picChg>
        <pc:picChg chg="add mod">
          <ac:chgData name="nafih nazar" userId="47d9d9818ae18c6b" providerId="LiveId" clId="{0003A4F6-0805-450D-AF7C-9CD450E09FA5}" dt="2026-01-10T00:13:14.686" v="28" actId="14100"/>
          <ac:picMkLst>
            <pc:docMk/>
            <pc:sldMk cId="2093218972" sldId="281"/>
            <ac:picMk id="13" creationId="{79ECAEDD-71A4-0B0A-4D77-2A7DBBE0DD88}"/>
          </ac:picMkLst>
        </pc:picChg>
        <pc:picChg chg="add mod">
          <ac:chgData name="nafih nazar" userId="47d9d9818ae18c6b" providerId="LiveId" clId="{0003A4F6-0805-450D-AF7C-9CD450E09FA5}" dt="2026-01-10T00:13:14.686" v="28" actId="14100"/>
          <ac:picMkLst>
            <pc:docMk/>
            <pc:sldMk cId="2093218972" sldId="281"/>
            <ac:picMk id="15" creationId="{85A1533B-6A20-4AB1-8C4B-59E8747442BA}"/>
          </ac:picMkLst>
        </pc:picChg>
        <pc:picChg chg="add mod">
          <ac:chgData name="nafih nazar" userId="47d9d9818ae18c6b" providerId="LiveId" clId="{0003A4F6-0805-450D-AF7C-9CD450E09FA5}" dt="2026-01-10T00:15:10.280" v="45" actId="1076"/>
          <ac:picMkLst>
            <pc:docMk/>
            <pc:sldMk cId="2093218972" sldId="281"/>
            <ac:picMk id="17" creationId="{5C6C1176-45F2-1D82-F314-C101461D951F}"/>
          </ac:picMkLst>
        </pc:picChg>
        <pc:picChg chg="add mod">
          <ac:chgData name="nafih nazar" userId="47d9d9818ae18c6b" providerId="LiveId" clId="{0003A4F6-0805-450D-AF7C-9CD450E09FA5}" dt="2026-01-10T00:14:44.212" v="43" actId="1076"/>
          <ac:picMkLst>
            <pc:docMk/>
            <pc:sldMk cId="2093218972" sldId="281"/>
            <ac:picMk id="19" creationId="{43622515-13FD-B8DB-F344-77027206A1F5}"/>
          </ac:picMkLst>
        </pc:picChg>
        <pc:picChg chg="add mod">
          <ac:chgData name="nafih nazar" userId="47d9d9818ae18c6b" providerId="LiveId" clId="{0003A4F6-0805-450D-AF7C-9CD450E09FA5}" dt="2026-01-10T00:15:36.400" v="49" actId="1076"/>
          <ac:picMkLst>
            <pc:docMk/>
            <pc:sldMk cId="2093218972" sldId="281"/>
            <ac:picMk id="21" creationId="{EEF0D574-560E-D849-B4D3-8FFF528F5FC9}"/>
          </ac:picMkLst>
        </pc:picChg>
      </pc:sldChg>
      <pc:sldChg chg="addSp delSp modSp add mod">
        <pc:chgData name="nafih nazar" userId="47d9d9818ae18c6b" providerId="LiveId" clId="{0003A4F6-0805-450D-AF7C-9CD450E09FA5}" dt="2026-01-10T00:17:44.378" v="75" actId="1076"/>
        <pc:sldMkLst>
          <pc:docMk/>
          <pc:sldMk cId="4121580972" sldId="282"/>
        </pc:sldMkLst>
        <pc:spChg chg="add del mod">
          <ac:chgData name="nafih nazar" userId="47d9d9818ae18c6b" providerId="LiveId" clId="{0003A4F6-0805-450D-AF7C-9CD450E09FA5}" dt="2026-01-10T00:15:58.656" v="54" actId="931"/>
          <ac:spMkLst>
            <pc:docMk/>
            <pc:sldMk cId="4121580972" sldId="282"/>
            <ac:spMk id="4" creationId="{2FFE8821-587E-D94D-8F68-87E705A5CFA8}"/>
          </ac:spMkLst>
        </pc:spChg>
        <pc:picChg chg="add mod">
          <ac:chgData name="nafih nazar" userId="47d9d9818ae18c6b" providerId="LiveId" clId="{0003A4F6-0805-450D-AF7C-9CD450E09FA5}" dt="2026-01-10T00:17:41.706" v="74" actId="1076"/>
          <ac:picMkLst>
            <pc:docMk/>
            <pc:sldMk cId="4121580972" sldId="282"/>
            <ac:picMk id="6" creationId="{E1938915-28A2-447F-B249-760598EF292D}"/>
          </ac:picMkLst>
        </pc:picChg>
        <pc:picChg chg="add mod">
          <ac:chgData name="nafih nazar" userId="47d9d9818ae18c6b" providerId="LiveId" clId="{0003A4F6-0805-450D-AF7C-9CD450E09FA5}" dt="2026-01-10T00:17:44.378" v="75" actId="1076"/>
          <ac:picMkLst>
            <pc:docMk/>
            <pc:sldMk cId="4121580972" sldId="282"/>
            <ac:picMk id="8" creationId="{695C675B-D419-92A0-1DC6-DF2DF84F1506}"/>
          </ac:picMkLst>
        </pc:picChg>
        <pc:picChg chg="add mod">
          <ac:chgData name="nafih nazar" userId="47d9d9818ae18c6b" providerId="LiveId" clId="{0003A4F6-0805-450D-AF7C-9CD450E09FA5}" dt="2026-01-10T00:17:40.039" v="73" actId="1076"/>
          <ac:picMkLst>
            <pc:docMk/>
            <pc:sldMk cId="4121580972" sldId="282"/>
            <ac:picMk id="10" creationId="{E8705BF2-B4B4-5AF1-A0D2-BC432340BA56}"/>
          </ac:picMkLst>
        </pc:picChg>
        <pc:picChg chg="del">
          <ac:chgData name="nafih nazar" userId="47d9d9818ae18c6b" providerId="LiveId" clId="{0003A4F6-0805-450D-AF7C-9CD450E09FA5}" dt="2026-01-10T00:15:47.378" v="51" actId="478"/>
          <ac:picMkLst>
            <pc:docMk/>
            <pc:sldMk cId="4121580972" sldId="282"/>
            <ac:picMk id="17" creationId="{7D24AC60-603E-A568-597C-40205A8ACE7F}"/>
          </ac:picMkLst>
        </pc:picChg>
        <pc:picChg chg="del">
          <ac:chgData name="nafih nazar" userId="47d9d9818ae18c6b" providerId="LiveId" clId="{0003A4F6-0805-450D-AF7C-9CD450E09FA5}" dt="2026-01-10T00:15:51.821" v="52" actId="478"/>
          <ac:picMkLst>
            <pc:docMk/>
            <pc:sldMk cId="4121580972" sldId="282"/>
            <ac:picMk id="19" creationId="{1EEACE32-D10D-F196-6C8B-30BC00D1E622}"/>
          </ac:picMkLst>
        </pc:picChg>
        <pc:picChg chg="del">
          <ac:chgData name="nafih nazar" userId="47d9d9818ae18c6b" providerId="LiveId" clId="{0003A4F6-0805-450D-AF7C-9CD450E09FA5}" dt="2026-01-10T00:15:53.817" v="53" actId="478"/>
          <ac:picMkLst>
            <pc:docMk/>
            <pc:sldMk cId="4121580972" sldId="282"/>
            <ac:picMk id="21" creationId="{20F38CF4-0316-60E6-F6C8-1CFCE5E9832A}"/>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9184DA70-C731-4C70-880D-CCD4705E623C}" type="datetime1">
              <a:rPr lang="en-US" smtClean="0"/>
              <a:t>1/10/2026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0413427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9385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8463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78446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1/10/2026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7786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1/10/2026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355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9667345-2558-425A-8533-9BFDBCE15005}" type="datetime1">
              <a:rPr lang="en-US" smtClean="0"/>
              <a:t>1/10/2026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8731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26535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1/10/2026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313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8428551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871736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315021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26028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4193576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6380920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85226957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4571982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D6E202-B606-4609-B914-27C9371A1F6D}" type="datetime1">
              <a:rPr lang="en-US" smtClean="0"/>
              <a:t>1/10/2026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594442739"/>
      </p:ext>
    </p:extLst>
  </p:cSld>
  <p:clrMap bg1="dk1" tx1="lt1" bg2="dk2" tx2="lt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 id="2147483810" r:id="rId14"/>
    <p:sldLayoutId id="2147483811" r:id="rId15"/>
    <p:sldLayoutId id="2147483812" r:id="rId16"/>
    <p:sldLayoutId id="2147483813"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4178711" y="1956618"/>
            <a:ext cx="6597496" cy="1116239"/>
          </a:xfrm>
        </p:spPr>
        <p:txBody>
          <a:bodyPr>
            <a:noAutofit/>
          </a:bodyPr>
          <a:lstStyle/>
          <a:p>
            <a:br>
              <a:rPr lang="en-IN" sz="4000" b="1" dirty="0">
                <a:latin typeface="Baskerville Old Face" panose="02020602080505020303" pitchFamily="18" charset="0"/>
              </a:rPr>
            </a:br>
            <a:r>
              <a:rPr lang="en-IN" sz="7200" b="1" dirty="0">
                <a:latin typeface="Baskerville Old Face" panose="02020602080505020303" pitchFamily="18" charset="0"/>
              </a:rPr>
              <a:t>Q-SMART</a:t>
            </a:r>
            <a:endParaRPr lang="en-IN" sz="4000" dirty="0">
              <a:latin typeface="Baskerville Old Face" panose="02020602080505020303" pitchFamily="18" charset="0"/>
            </a:endParaRPr>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31974" y="3161349"/>
            <a:ext cx="5073498" cy="369332"/>
          </a:xfrm>
        </p:spPr>
        <p:txBody>
          <a:bodyPr>
            <a:noAutofit/>
          </a:bodyPr>
          <a:lstStyle/>
          <a:p>
            <a:r>
              <a:rPr lang="en-IN" sz="1400" dirty="0">
                <a:latin typeface="+mj-lt"/>
              </a:rPr>
              <a:t>Smart Crowd Prediction &amp; Queue Management Platform</a:t>
            </a:r>
            <a:endParaRPr lang="en-US" sz="1400" dirty="0">
              <a:solidFill>
                <a:schemeClr val="tx1">
                  <a:lumMod val="85000"/>
                  <a:lumOff val="15000"/>
                </a:schemeClr>
              </a:solidFill>
              <a:latin typeface="+mj-lt"/>
            </a:endParaRPr>
          </a:p>
        </p:txBody>
      </p:sp>
      <p:sp>
        <p:nvSpPr>
          <p:cNvPr id="4" name="TextBox 3">
            <a:extLst>
              <a:ext uri="{FF2B5EF4-FFF2-40B4-BE49-F238E27FC236}">
                <a16:creationId xmlns:a16="http://schemas.microsoft.com/office/drawing/2014/main" id="{270FDD31-E40B-DF25-917D-A01BAC1D7CB4}"/>
              </a:ext>
            </a:extLst>
          </p:cNvPr>
          <p:cNvSpPr txBox="1"/>
          <p:nvPr/>
        </p:nvSpPr>
        <p:spPr>
          <a:xfrm>
            <a:off x="7678993" y="5051323"/>
            <a:ext cx="3726479" cy="3754874"/>
          </a:xfrm>
          <a:prstGeom prst="rect">
            <a:avLst/>
          </a:prstGeom>
          <a:noFill/>
        </p:spPr>
        <p:txBody>
          <a:bodyPr wrap="square" rtlCol="0">
            <a:spAutoFit/>
          </a:bodyPr>
          <a:lstStyle/>
          <a:p>
            <a:endParaRPr lang="en-US" dirty="0"/>
          </a:p>
          <a:p>
            <a:r>
              <a:rPr lang="en-US" sz="1600" dirty="0"/>
              <a:t>Domain: Smart Living and Daily Life</a:t>
            </a:r>
          </a:p>
          <a:p>
            <a:r>
              <a:rPr lang="en-IN" sz="1600" dirty="0"/>
              <a:t>Team Members:    </a:t>
            </a:r>
            <a:r>
              <a:rPr lang="en-IN" sz="1600" dirty="0" err="1"/>
              <a:t>Aswiny</a:t>
            </a:r>
            <a:r>
              <a:rPr lang="en-IN" sz="1600" dirty="0"/>
              <a:t> B Kaimal</a:t>
            </a:r>
          </a:p>
          <a:p>
            <a:r>
              <a:rPr lang="en-IN" sz="1600" dirty="0"/>
              <a:t>                                 </a:t>
            </a:r>
            <a:r>
              <a:rPr lang="en-IN" sz="1600" dirty="0" err="1"/>
              <a:t>Nafih</a:t>
            </a:r>
            <a:r>
              <a:rPr lang="en-IN" sz="1600" dirty="0"/>
              <a:t> Nazar</a:t>
            </a:r>
          </a:p>
          <a:p>
            <a:r>
              <a:rPr lang="en-IN" sz="1600" dirty="0"/>
              <a:t>                                 Neeraj P Raju</a:t>
            </a:r>
          </a:p>
          <a:p>
            <a:r>
              <a:rPr lang="en-IN" sz="1600" dirty="0"/>
              <a:t>                                 </a:t>
            </a:r>
            <a:r>
              <a:rPr lang="en-IN" sz="1600" dirty="0" err="1"/>
              <a:t>Parthip</a:t>
            </a:r>
            <a:r>
              <a:rPr lang="en-IN" sz="1600" dirty="0"/>
              <a:t> Rajesh</a:t>
            </a:r>
          </a:p>
          <a:p>
            <a:endParaRPr lang="en-IN" sz="1600" dirty="0"/>
          </a:p>
          <a:p>
            <a:endParaRPr lang="en-US" sz="1600" dirty="0"/>
          </a:p>
          <a:p>
            <a:endParaRPr lang="en-US" dirty="0"/>
          </a:p>
          <a:p>
            <a:endParaRPr lang="en-US" dirty="0"/>
          </a:p>
          <a:p>
            <a:endParaRPr lang="en-US" dirty="0"/>
          </a:p>
          <a:p>
            <a:endParaRPr lang="en-US" dirty="0"/>
          </a:p>
          <a:p>
            <a:endParaRPr lang="en-US" dirty="0"/>
          </a:p>
          <a:p>
            <a:endParaRPr lang="en-IN" dirty="0"/>
          </a:p>
        </p:txBody>
      </p:sp>
      <p:sp>
        <p:nvSpPr>
          <p:cNvPr id="5" name="TextBox 4">
            <a:extLst>
              <a:ext uri="{FF2B5EF4-FFF2-40B4-BE49-F238E27FC236}">
                <a16:creationId xmlns:a16="http://schemas.microsoft.com/office/drawing/2014/main" id="{2DC4AC70-0FF9-9E58-71E3-8D42FADCAC36}"/>
              </a:ext>
            </a:extLst>
          </p:cNvPr>
          <p:cNvSpPr txBox="1"/>
          <p:nvPr/>
        </p:nvSpPr>
        <p:spPr>
          <a:xfrm>
            <a:off x="9802762" y="3648512"/>
            <a:ext cx="2310580" cy="400110"/>
          </a:xfrm>
          <a:prstGeom prst="rect">
            <a:avLst/>
          </a:prstGeom>
          <a:noFill/>
        </p:spPr>
        <p:txBody>
          <a:bodyPr wrap="square" rtlCol="0">
            <a:spAutoFit/>
          </a:bodyPr>
          <a:lstStyle/>
          <a:p>
            <a:r>
              <a:rPr lang="en-US" sz="2000" dirty="0"/>
              <a:t>-By </a:t>
            </a:r>
            <a:r>
              <a:rPr lang="en-US" sz="2000" dirty="0" err="1"/>
              <a:t>UrbanX</a:t>
            </a:r>
            <a:endParaRPr lang="en-IN" sz="2000" dirty="0"/>
          </a:p>
        </p:txBody>
      </p:sp>
      <p:cxnSp>
        <p:nvCxnSpPr>
          <p:cNvPr id="8" name="Straight Connector 7">
            <a:extLst>
              <a:ext uri="{FF2B5EF4-FFF2-40B4-BE49-F238E27FC236}">
                <a16:creationId xmlns:a16="http://schemas.microsoft.com/office/drawing/2014/main" id="{53CC3EAB-9042-7DBA-5D71-15230A8A3FE6}"/>
              </a:ext>
            </a:extLst>
          </p:cNvPr>
          <p:cNvCxnSpPr>
            <a:cxnSpLocks/>
          </p:cNvCxnSpPr>
          <p:nvPr/>
        </p:nvCxnSpPr>
        <p:spPr>
          <a:xfrm flipH="1">
            <a:off x="6577780" y="3072857"/>
            <a:ext cx="5614220" cy="0"/>
          </a:xfrm>
          <a:prstGeom prst="line">
            <a:avLst/>
          </a:prstGeom>
          <a:ln>
            <a:solidFill>
              <a:schemeClr val="tx2">
                <a:lumMod val="50000"/>
              </a:schemeClr>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E9681882-F414-6E54-6DB0-1F5CF859A2C3}"/>
              </a:ext>
            </a:extLst>
          </p:cNvPr>
          <p:cNvPicPr>
            <a:picLocks noChangeAspect="1"/>
          </p:cNvPicPr>
          <p:nvPr/>
        </p:nvPicPr>
        <p:blipFill>
          <a:blip r:embed="rId2"/>
          <a:stretch>
            <a:fillRect/>
          </a:stretch>
        </p:blipFill>
        <p:spPr>
          <a:xfrm>
            <a:off x="10019071" y="4106335"/>
            <a:ext cx="1061988" cy="555130"/>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74268-8CC8-D0FE-C89A-AAE379AE4A84}"/>
              </a:ext>
            </a:extLst>
          </p:cNvPr>
          <p:cNvSpPr>
            <a:spLocks noGrp="1"/>
          </p:cNvSpPr>
          <p:nvPr>
            <p:ph type="title"/>
          </p:nvPr>
        </p:nvSpPr>
        <p:spPr>
          <a:xfrm>
            <a:off x="685801" y="609601"/>
            <a:ext cx="10131425" cy="1130710"/>
          </a:xfrm>
        </p:spPr>
        <p:txBody>
          <a:bodyPr/>
          <a:lstStyle/>
          <a:p>
            <a:r>
              <a:rPr lang="en-IN" dirty="0">
                <a:latin typeface="Constantia" panose="02030602050306030303" pitchFamily="18" charset="0"/>
              </a:rPr>
              <a:t>Introduction</a:t>
            </a:r>
          </a:p>
        </p:txBody>
      </p:sp>
      <p:sp>
        <p:nvSpPr>
          <p:cNvPr id="3" name="Content Placeholder 2">
            <a:extLst>
              <a:ext uri="{FF2B5EF4-FFF2-40B4-BE49-F238E27FC236}">
                <a16:creationId xmlns:a16="http://schemas.microsoft.com/office/drawing/2014/main" id="{8C095EFB-0A30-92F8-F8B3-E27C34BC40EB}"/>
              </a:ext>
            </a:extLst>
          </p:cNvPr>
          <p:cNvSpPr>
            <a:spLocks noGrp="1"/>
          </p:cNvSpPr>
          <p:nvPr>
            <p:ph idx="1"/>
          </p:nvPr>
        </p:nvSpPr>
        <p:spPr>
          <a:xfrm>
            <a:off x="685801" y="2142067"/>
            <a:ext cx="10640960" cy="3649133"/>
          </a:xfrm>
        </p:spPr>
        <p:txBody>
          <a:bodyPr>
            <a:normAutofit fontScale="92500" lnSpcReduction="20000"/>
          </a:bodyPr>
          <a:lstStyle/>
          <a:p>
            <a:pPr marL="0" indent="0">
              <a:buNone/>
            </a:pPr>
            <a:r>
              <a:rPr lang="en-US" dirty="0"/>
              <a:t>Crowd congestion and long waiting times at public and commercial places such as hospitals, transport hubs, government offices, and retail centers significantly affect service efficiency and user experience. In many cases, visitors are unaware of peak hours and expected queue lengths, leading to unnecessary delays and overcrowding. There is a growing need for a smart, scalable, and privacy-preserving solution that enables people to plan their visits more efficiently without relying on additional hardware infrastructure. </a:t>
            </a:r>
          </a:p>
          <a:p>
            <a:pPr marL="0" indent="0">
              <a:buNone/>
            </a:pPr>
            <a:r>
              <a:rPr lang="en-US" dirty="0"/>
              <a:t>Q-SMART by </a:t>
            </a:r>
            <a:r>
              <a:rPr lang="en-US" dirty="0" err="1"/>
              <a:t>UrbanX</a:t>
            </a:r>
            <a:r>
              <a:rPr lang="en-US" dirty="0"/>
              <a:t> is a software-based crowd prediction and queue management platform designed to estimate expected crowd levels and waiting times across multiple public locations. The system combines historical baseline crowd patterns with real-time queue registrations made by users on the platform to predict the expected crowd at a given location and time. By analyzing time-based trends and registered queue data, Q-SMART determines crowd levels, estimates waiting times, and suggests the best time to visit a selected location. </a:t>
            </a:r>
          </a:p>
          <a:p>
            <a:pPr marL="0" indent="0">
              <a:buNone/>
            </a:pPr>
            <a:r>
              <a:rPr lang="en-US" dirty="0"/>
              <a:t>The platform provides key functionalities including user queue registration, real-time crowd status checking, multi-location monitoring through a dashboard, automatic clearing of outdated queue data, and visual classification of crowd levels. The system is designed to be privacy-first, collecting no personal user information, and is fully deployable as a web-based solution. Q-SMART aims to reduce overcrowding, improve service accessibility, and help users make informed decisions while planning visits to essential public and commercial spaces.</a:t>
            </a:r>
            <a:endParaRPr lang="en-IN" dirty="0"/>
          </a:p>
        </p:txBody>
      </p:sp>
    </p:spTree>
    <p:extLst>
      <p:ext uri="{BB962C8B-B14F-4D97-AF65-F5344CB8AC3E}">
        <p14:creationId xmlns:p14="http://schemas.microsoft.com/office/powerpoint/2010/main" val="1763743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02479-8619-CF7F-DEC9-DC5657CE5018}"/>
              </a:ext>
            </a:extLst>
          </p:cNvPr>
          <p:cNvSpPr>
            <a:spLocks noGrp="1"/>
          </p:cNvSpPr>
          <p:nvPr>
            <p:ph type="title"/>
          </p:nvPr>
        </p:nvSpPr>
        <p:spPr/>
        <p:txBody>
          <a:bodyPr/>
          <a:lstStyle/>
          <a:p>
            <a:r>
              <a:rPr lang="en-IN" dirty="0">
                <a:latin typeface="Constantia" panose="02030602050306030303" pitchFamily="18" charset="0"/>
              </a:rPr>
              <a:t>The Crisis of Congestion</a:t>
            </a:r>
          </a:p>
        </p:txBody>
      </p:sp>
      <p:sp>
        <p:nvSpPr>
          <p:cNvPr id="3" name="Content Placeholder 2">
            <a:extLst>
              <a:ext uri="{FF2B5EF4-FFF2-40B4-BE49-F238E27FC236}">
                <a16:creationId xmlns:a16="http://schemas.microsoft.com/office/drawing/2014/main" id="{5817FD1A-D6E0-98B4-5ED2-2155CE5E5652}"/>
              </a:ext>
            </a:extLst>
          </p:cNvPr>
          <p:cNvSpPr>
            <a:spLocks noGrp="1"/>
          </p:cNvSpPr>
          <p:nvPr>
            <p:ph idx="1"/>
          </p:nvPr>
        </p:nvSpPr>
        <p:spPr/>
        <p:txBody>
          <a:bodyPr/>
          <a:lstStyle/>
          <a:p>
            <a:pPr marL="0" indent="0">
              <a:buNone/>
            </a:pPr>
            <a:r>
              <a:rPr lang="en-US" dirty="0"/>
              <a:t>Urban areas frequently experience overcrowding and long waiting times at public and commercial locations such as hospitals, transport hubs, government offices, and retail centers. Due to the absence of real-time crowd information and predictive planning, visitors often arrive during peak hours, resulting in excessive queues, reduced service efficiency, and user discomfort.</a:t>
            </a:r>
          </a:p>
          <a:p>
            <a:pPr marL="0" indent="0">
              <a:buNone/>
            </a:pPr>
            <a:r>
              <a:rPr lang="en-US" dirty="0"/>
              <a:t>Conventional crowd management methods are largely manual, hardware-dependent, or location-specific, making them costly and difficult to scale. In most cases, users have no access to advance information regarding expected crowd levels or waiting times, which further aggravates congestion.</a:t>
            </a:r>
          </a:p>
          <a:p>
            <a:pPr marL="0" indent="0">
              <a:buNone/>
            </a:pPr>
            <a:r>
              <a:rPr lang="en-US" dirty="0"/>
              <a:t>This growing congestion impacts public safety, productivity, and overall service accessibility. Therefore, there is a clear need for a scalable, software-based system that can predict crowd conditions, estimate waiting times, and guide users toward better visit planning without relying on additional hardware.</a:t>
            </a:r>
            <a:endParaRPr lang="en-IN" dirty="0"/>
          </a:p>
        </p:txBody>
      </p:sp>
    </p:spTree>
    <p:extLst>
      <p:ext uri="{BB962C8B-B14F-4D97-AF65-F5344CB8AC3E}">
        <p14:creationId xmlns:p14="http://schemas.microsoft.com/office/powerpoint/2010/main" val="1064204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FC592-17C2-BD9B-975A-8A8547C67586}"/>
              </a:ext>
            </a:extLst>
          </p:cNvPr>
          <p:cNvSpPr>
            <a:spLocks noGrp="1"/>
          </p:cNvSpPr>
          <p:nvPr>
            <p:ph type="title"/>
          </p:nvPr>
        </p:nvSpPr>
        <p:spPr/>
        <p:txBody>
          <a:bodyPr/>
          <a:lstStyle/>
          <a:p>
            <a:r>
              <a:rPr lang="en-IN" dirty="0">
                <a:latin typeface="Constantia" panose="02030602050306030303" pitchFamily="18" charset="0"/>
              </a:rPr>
              <a:t>The Q-SMART Paradigm</a:t>
            </a:r>
          </a:p>
        </p:txBody>
      </p:sp>
      <p:sp>
        <p:nvSpPr>
          <p:cNvPr id="3" name="Content Placeholder 2">
            <a:extLst>
              <a:ext uri="{FF2B5EF4-FFF2-40B4-BE49-F238E27FC236}">
                <a16:creationId xmlns:a16="http://schemas.microsoft.com/office/drawing/2014/main" id="{9245C065-24F4-3DC2-1C74-16ECB3D00F2C}"/>
              </a:ext>
            </a:extLst>
          </p:cNvPr>
          <p:cNvSpPr>
            <a:spLocks noGrp="1"/>
          </p:cNvSpPr>
          <p:nvPr>
            <p:ph idx="1"/>
          </p:nvPr>
        </p:nvSpPr>
        <p:spPr>
          <a:xfrm>
            <a:off x="685801" y="2142067"/>
            <a:ext cx="10434483" cy="4106333"/>
          </a:xfrm>
        </p:spPr>
        <p:txBody>
          <a:bodyPr>
            <a:normAutofit/>
          </a:bodyPr>
          <a:lstStyle/>
          <a:p>
            <a:pPr marL="0" indent="0">
              <a:buNone/>
            </a:pPr>
            <a:r>
              <a:rPr lang="en-US" b="1" dirty="0"/>
              <a:t>The Q-SMART paradigm is a software-based approach to crowd prediction and queue management that aims to reduce congestion through proactive planning. It combines historical crowd trend data with real-time queue registrations from users to estimate the expected crowd at different locations and time periods.</a:t>
            </a:r>
          </a:p>
          <a:p>
            <a:pPr marL="0" indent="0">
              <a:buNone/>
            </a:pPr>
            <a:r>
              <a:rPr lang="en-US" b="1" dirty="0"/>
              <a:t>By analyzing time-based patterns and current demand, Q-SMART predicts crowd levels, estimates waiting times, and suggests optimal visiting periods. The paradigm is designed to be scalable, cost-effective, and privacy-preserving, as it operates without additional hardware and does not collect personal user information. This approach enables efficient crowd management and improved accessibility across public and commercial spaces.</a:t>
            </a:r>
            <a:endParaRPr lang="en-US" dirty="0"/>
          </a:p>
        </p:txBody>
      </p:sp>
    </p:spTree>
    <p:extLst>
      <p:ext uri="{BB962C8B-B14F-4D97-AF65-F5344CB8AC3E}">
        <p14:creationId xmlns:p14="http://schemas.microsoft.com/office/powerpoint/2010/main" val="1148414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4977-42E2-C0AD-8184-3DD3084D80D5}"/>
              </a:ext>
            </a:extLst>
          </p:cNvPr>
          <p:cNvSpPr>
            <a:spLocks noGrp="1"/>
          </p:cNvSpPr>
          <p:nvPr>
            <p:ph type="title"/>
          </p:nvPr>
        </p:nvSpPr>
        <p:spPr/>
        <p:txBody>
          <a:bodyPr/>
          <a:lstStyle/>
          <a:p>
            <a:r>
              <a:rPr lang="en-IN" dirty="0">
                <a:latin typeface="Constantia" panose="02030602050306030303" pitchFamily="18" charset="0"/>
              </a:rPr>
              <a:t>The Predictive Engine</a:t>
            </a:r>
          </a:p>
        </p:txBody>
      </p:sp>
      <p:sp>
        <p:nvSpPr>
          <p:cNvPr id="3" name="Content Placeholder 2">
            <a:extLst>
              <a:ext uri="{FF2B5EF4-FFF2-40B4-BE49-F238E27FC236}">
                <a16:creationId xmlns:a16="http://schemas.microsoft.com/office/drawing/2014/main" id="{FA4CAF3D-0AF7-508E-E93F-BBB2C7BA217B}"/>
              </a:ext>
            </a:extLst>
          </p:cNvPr>
          <p:cNvSpPr>
            <a:spLocks noGrp="1"/>
          </p:cNvSpPr>
          <p:nvPr>
            <p:ph idx="1"/>
          </p:nvPr>
        </p:nvSpPr>
        <p:spPr>
          <a:xfrm>
            <a:off x="685801" y="2142067"/>
            <a:ext cx="10228005" cy="3973598"/>
          </a:xfrm>
        </p:spPr>
        <p:txBody>
          <a:bodyPr>
            <a:normAutofit/>
          </a:bodyPr>
          <a:lstStyle/>
          <a:p>
            <a:pPr marL="0" indent="0">
              <a:buNone/>
            </a:pPr>
            <a:r>
              <a:rPr lang="en-US" b="1" dirty="0"/>
              <a:t>The predictive engine of Q-SMART is responsible for estimating the expected crowd level and waiting time at a selected location. It operates by combining historical baseline crowd data with real-time queue registrations made by users on the platform. The baseline data represents typical crowd behavior across different days and time intervals, while the registered user count reflects the current demand.</a:t>
            </a:r>
          </a:p>
          <a:p>
            <a:pPr marL="0" indent="0">
              <a:buNone/>
            </a:pPr>
            <a:r>
              <a:rPr lang="en-US" b="1" dirty="0"/>
              <a:t>For a given location and time, the engine selects the nearest relevant historical data point and adjusts it using the number of active queue registrations. Based on the predicted crowd value, the system classifies congestion levels as low, moderate, or high and calculates the estimated waiting time using predefined service capacity parameters. Additionally, the engine analyzes historical trends to determine the best time to visit a location.</a:t>
            </a:r>
          </a:p>
          <a:p>
            <a:pPr marL="0" indent="0">
              <a:buNone/>
            </a:pPr>
            <a:r>
              <a:rPr lang="en-US" b="1" dirty="0"/>
              <a:t>This lightweight and rule-based predictive mechanism ensures transparency, reliability, and easy scalability, making it suitable for real-time deployment without the need for complex machine learning models.</a:t>
            </a:r>
            <a:endParaRPr lang="en-IN" dirty="0"/>
          </a:p>
        </p:txBody>
      </p:sp>
    </p:spTree>
    <p:extLst>
      <p:ext uri="{BB962C8B-B14F-4D97-AF65-F5344CB8AC3E}">
        <p14:creationId xmlns:p14="http://schemas.microsoft.com/office/powerpoint/2010/main" val="1592485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64CD9-D51C-1829-6C54-BA1CB32B4FA9}"/>
              </a:ext>
            </a:extLst>
          </p:cNvPr>
          <p:cNvSpPr>
            <a:spLocks noGrp="1"/>
          </p:cNvSpPr>
          <p:nvPr>
            <p:ph type="title"/>
          </p:nvPr>
        </p:nvSpPr>
        <p:spPr/>
        <p:txBody>
          <a:bodyPr/>
          <a:lstStyle/>
          <a:p>
            <a:r>
              <a:rPr lang="en-IN" dirty="0">
                <a:latin typeface="Constantia" panose="02030602050306030303" pitchFamily="18" charset="0"/>
              </a:rPr>
              <a:t>Technical Architecture</a:t>
            </a:r>
          </a:p>
        </p:txBody>
      </p:sp>
      <p:sp>
        <p:nvSpPr>
          <p:cNvPr id="3" name="Content Placeholder 2">
            <a:extLst>
              <a:ext uri="{FF2B5EF4-FFF2-40B4-BE49-F238E27FC236}">
                <a16:creationId xmlns:a16="http://schemas.microsoft.com/office/drawing/2014/main" id="{0B0F11EC-2349-2F71-2B2D-26D4D9CB9984}"/>
              </a:ext>
            </a:extLst>
          </p:cNvPr>
          <p:cNvSpPr>
            <a:spLocks noGrp="1"/>
          </p:cNvSpPr>
          <p:nvPr>
            <p:ph idx="1"/>
          </p:nvPr>
        </p:nvSpPr>
        <p:spPr/>
        <p:txBody>
          <a:bodyPr>
            <a:normAutofit lnSpcReduction="10000"/>
          </a:bodyPr>
          <a:lstStyle/>
          <a:p>
            <a:pPr marL="0" indent="0">
              <a:buNone/>
            </a:pPr>
            <a:r>
              <a:rPr lang="en-US" b="1" dirty="0"/>
              <a:t>The technical architecture of Q-SMART follows a modular, web-based design that integrates data processing, prediction logic, and user interaction within a unified framework. The system is built using the Python Flask web framework, which handles request routing, backend processing, and dynamic page rendering.</a:t>
            </a:r>
          </a:p>
          <a:p>
            <a:pPr marL="0" indent="0">
              <a:buNone/>
            </a:pPr>
            <a:r>
              <a:rPr lang="en-US" b="1" dirty="0"/>
              <a:t>Historical baseline crowd data is stored in a structured CSV dataset, while real-time queue registrations are maintained using a lightweight SQLite database. The predictive engine processes both data sources to compute expected crowd levels, congestion classification, waiting time estimation, and optimal visit periods. Automatic cleanup mechanisms periodically remove outdated queue entries to ensure data relevance.</a:t>
            </a:r>
          </a:p>
          <a:p>
            <a:pPr marL="0" indent="0">
              <a:buNone/>
            </a:pPr>
            <a:r>
              <a:rPr lang="en-US" b="1" dirty="0"/>
              <a:t>The frontend interface is delivered through HTML and CSS, providing dashboards, forms, and status views that communicate with the backend through HTTP requests. The entire system is deployed as a cloud-hosted web application, enabling scalable access without requiring additional hardware or client-side installations.</a:t>
            </a:r>
            <a:endParaRPr lang="en-IN" dirty="0"/>
          </a:p>
        </p:txBody>
      </p:sp>
    </p:spTree>
    <p:extLst>
      <p:ext uri="{BB962C8B-B14F-4D97-AF65-F5344CB8AC3E}">
        <p14:creationId xmlns:p14="http://schemas.microsoft.com/office/powerpoint/2010/main" val="133681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89B0-F0A8-5F83-4D00-CFF4D7BAF4EB}"/>
              </a:ext>
            </a:extLst>
          </p:cNvPr>
          <p:cNvSpPr>
            <a:spLocks noGrp="1"/>
          </p:cNvSpPr>
          <p:nvPr>
            <p:ph type="title"/>
          </p:nvPr>
        </p:nvSpPr>
        <p:spPr/>
        <p:txBody>
          <a:bodyPr/>
          <a:lstStyle/>
          <a:p>
            <a:r>
              <a:rPr lang="en-IN" dirty="0">
                <a:latin typeface="Constantia" panose="02030602050306030303" pitchFamily="18" charset="0"/>
              </a:rPr>
              <a:t>The User Journey</a:t>
            </a:r>
          </a:p>
        </p:txBody>
      </p:sp>
      <p:sp>
        <p:nvSpPr>
          <p:cNvPr id="3" name="Content Placeholder 2">
            <a:extLst>
              <a:ext uri="{FF2B5EF4-FFF2-40B4-BE49-F238E27FC236}">
                <a16:creationId xmlns:a16="http://schemas.microsoft.com/office/drawing/2014/main" id="{B890765E-8DCA-CAB4-DFEC-98D9980F296B}"/>
              </a:ext>
            </a:extLst>
          </p:cNvPr>
          <p:cNvSpPr>
            <a:spLocks noGrp="1"/>
          </p:cNvSpPr>
          <p:nvPr>
            <p:ph idx="1"/>
          </p:nvPr>
        </p:nvSpPr>
        <p:spPr>
          <a:xfrm>
            <a:off x="685801" y="2142067"/>
            <a:ext cx="10131425" cy="4106333"/>
          </a:xfrm>
        </p:spPr>
        <p:txBody>
          <a:bodyPr>
            <a:normAutofit/>
          </a:bodyPr>
          <a:lstStyle/>
          <a:p>
            <a:pPr marL="0" indent="0">
              <a:buNone/>
            </a:pPr>
            <a:r>
              <a:rPr lang="en-US" b="1" dirty="0"/>
              <a:t>The user journey in Q-SMART is designed to be simple, intuitive, and efficient. A user begins by accessing the Q-SMART web platform, where a dashboard provides an overview of predicted crowd conditions across multiple locations. This enables users to quickly assess congestion levels before making a decision.</a:t>
            </a:r>
          </a:p>
          <a:p>
            <a:pPr marL="0" indent="0">
              <a:buNone/>
            </a:pPr>
            <a:r>
              <a:rPr lang="en-US" b="1" dirty="0"/>
              <a:t>To obtain detailed information, the user selects a specific location to view the expected crowd, crowd level classification, estimated waiting time, and the best time to visit. If the user intends to visit the location, they can register themselves in the queue through the join queue feature, which updates the system’s real-time data.</a:t>
            </a:r>
          </a:p>
          <a:p>
            <a:pPr marL="0" indent="0">
              <a:buNone/>
            </a:pPr>
            <a:r>
              <a:rPr lang="en-US" b="1" dirty="0"/>
              <a:t>The system continuously integrates user registrations with historical crowd trends to refine predictions. Outdated queue entries are automatically removed, ensuring accurate and relevant results. This streamlined journey allows users to plan visits efficiently while contributing to improved crowd management across locations.</a:t>
            </a:r>
            <a:endParaRPr lang="en-US" dirty="0"/>
          </a:p>
        </p:txBody>
      </p:sp>
    </p:spTree>
    <p:extLst>
      <p:ext uri="{BB962C8B-B14F-4D97-AF65-F5344CB8AC3E}">
        <p14:creationId xmlns:p14="http://schemas.microsoft.com/office/powerpoint/2010/main" val="2149258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32F4-BF70-3028-1658-CE49CF2E0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FD412-8621-64D5-D5BF-784A91FC77F9}"/>
              </a:ext>
            </a:extLst>
          </p:cNvPr>
          <p:cNvSpPr>
            <a:spLocks noGrp="1"/>
          </p:cNvSpPr>
          <p:nvPr>
            <p:ph type="title"/>
          </p:nvPr>
        </p:nvSpPr>
        <p:spPr/>
        <p:txBody>
          <a:bodyPr/>
          <a:lstStyle/>
          <a:p>
            <a:r>
              <a:rPr lang="en-US" b="1" dirty="0">
                <a:latin typeface="Constantia" panose="02030602050306030303" pitchFamily="18" charset="0"/>
              </a:rPr>
              <a:t>The system architecture</a:t>
            </a:r>
            <a:endParaRPr lang="en-IN" dirty="0">
              <a:latin typeface="Constantia" panose="02030602050306030303" pitchFamily="18" charset="0"/>
            </a:endParaRPr>
          </a:p>
        </p:txBody>
      </p:sp>
      <p:sp>
        <p:nvSpPr>
          <p:cNvPr id="3" name="Content Placeholder 2">
            <a:extLst>
              <a:ext uri="{FF2B5EF4-FFF2-40B4-BE49-F238E27FC236}">
                <a16:creationId xmlns:a16="http://schemas.microsoft.com/office/drawing/2014/main" id="{FF63416D-D910-A6F1-6FA0-1562C830B7BA}"/>
              </a:ext>
            </a:extLst>
          </p:cNvPr>
          <p:cNvSpPr>
            <a:spLocks noGrp="1"/>
          </p:cNvSpPr>
          <p:nvPr>
            <p:ph idx="1"/>
          </p:nvPr>
        </p:nvSpPr>
        <p:spPr>
          <a:xfrm>
            <a:off x="685801" y="2142067"/>
            <a:ext cx="10131425" cy="4106333"/>
          </a:xfrm>
        </p:spPr>
        <p:txBody>
          <a:bodyPr>
            <a:normAutofit fontScale="92500" lnSpcReduction="20000"/>
          </a:bodyPr>
          <a:lstStyle/>
          <a:p>
            <a:pPr marL="0" indent="0">
              <a:buNone/>
            </a:pPr>
            <a:r>
              <a:rPr lang="en-US" b="1" dirty="0"/>
              <a:t>The system architecture of Q-SMART is organized into four primary layers: the user interface layer, application layer, data layer, and deployment layer. Each layer plays a specific role in ensuring efficient crowd prediction and queue management.</a:t>
            </a:r>
          </a:p>
          <a:p>
            <a:pPr marL="0" indent="0">
              <a:buNone/>
            </a:pPr>
            <a:r>
              <a:rPr lang="en-US" b="1" dirty="0"/>
              <a:t>The User Interface Layer allows users to interact with the system through a web browser. It includes the dashboard, queue registration page, and crowd status view, enabling users to access predictions and submit queue registrations.</a:t>
            </a:r>
          </a:p>
          <a:p>
            <a:pPr marL="0" indent="0">
              <a:buNone/>
            </a:pPr>
            <a:r>
              <a:rPr lang="en-US" b="1" dirty="0"/>
              <a:t>The Application Layer, implemented using the Python Flask framework, handles request processing, data integration, and prediction logic. This layer contains the predictive engine, which combines historical baseline data with live queue registrations to compute expected crowd levels, waiting times, crowd classifications, and best visiting periods.</a:t>
            </a:r>
          </a:p>
          <a:p>
            <a:pPr marL="0" indent="0">
              <a:buNone/>
            </a:pPr>
            <a:r>
              <a:rPr lang="en-US" b="1" dirty="0"/>
              <a:t>The Data Layer consists of two components: a baseline crowd dataset stored in CSV format and a real-time queue database implemented using SQLite. The baseline dataset provides time-based historical patterns, while the database stores temporary user queue entries that are automatically cleared after a defined duration.</a:t>
            </a:r>
          </a:p>
          <a:p>
            <a:pPr marL="0" indent="0">
              <a:buNone/>
            </a:pPr>
            <a:r>
              <a:rPr lang="en-US" b="1" dirty="0"/>
              <a:t>The Deployment Layer hosts the complete system on a cloud-based platform, enabling scalable and remote access. This layered architecture ensures modularity, scalability, and ease of maintenance while maintaining a privacy-preserving and hardware-independent design.</a:t>
            </a:r>
            <a:endParaRPr lang="en-US" dirty="0"/>
          </a:p>
        </p:txBody>
      </p:sp>
    </p:spTree>
    <p:extLst>
      <p:ext uri="{BB962C8B-B14F-4D97-AF65-F5344CB8AC3E}">
        <p14:creationId xmlns:p14="http://schemas.microsoft.com/office/powerpoint/2010/main" val="2095013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D146-D1AC-23E5-0A3D-90EF64F14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B0C30-8A27-5BF2-3662-BF087E768215}"/>
              </a:ext>
            </a:extLst>
          </p:cNvPr>
          <p:cNvSpPr>
            <a:spLocks noGrp="1"/>
          </p:cNvSpPr>
          <p:nvPr>
            <p:ph type="title"/>
          </p:nvPr>
        </p:nvSpPr>
        <p:spPr/>
        <p:txBody>
          <a:bodyPr/>
          <a:lstStyle/>
          <a:p>
            <a:r>
              <a:rPr lang="en-US" b="1" dirty="0">
                <a:latin typeface="Constantia" panose="02030602050306030303" pitchFamily="18" charset="0"/>
              </a:rPr>
              <a:t>WEBPAGE SCREENSHOTS</a:t>
            </a:r>
            <a:endParaRPr lang="en-IN" dirty="0">
              <a:latin typeface="Constantia" panose="02030602050306030303" pitchFamily="18" charset="0"/>
            </a:endParaRPr>
          </a:p>
        </p:txBody>
      </p:sp>
      <p:pic>
        <p:nvPicPr>
          <p:cNvPr id="17" name="Content Placeholder 16">
            <a:extLst>
              <a:ext uri="{FF2B5EF4-FFF2-40B4-BE49-F238E27FC236}">
                <a16:creationId xmlns:a16="http://schemas.microsoft.com/office/drawing/2014/main" id="{5C6C1176-45F2-1D82-F314-C101461D951F}"/>
              </a:ext>
            </a:extLst>
          </p:cNvPr>
          <p:cNvPicPr>
            <a:picLocks noGrp="1" noChangeAspect="1"/>
          </p:cNvPicPr>
          <p:nvPr>
            <p:ph idx="1"/>
          </p:nvPr>
        </p:nvPicPr>
        <p:blipFill>
          <a:blip r:embed="rId2"/>
          <a:stretch>
            <a:fillRect/>
          </a:stretch>
        </p:blipFill>
        <p:spPr>
          <a:xfrm>
            <a:off x="1182037" y="2065867"/>
            <a:ext cx="4197624" cy="2168812"/>
          </a:xfrm>
        </p:spPr>
      </p:pic>
      <p:pic>
        <p:nvPicPr>
          <p:cNvPr id="19" name="Picture 18">
            <a:extLst>
              <a:ext uri="{FF2B5EF4-FFF2-40B4-BE49-F238E27FC236}">
                <a16:creationId xmlns:a16="http://schemas.microsoft.com/office/drawing/2014/main" id="{43622515-13FD-B8DB-F344-77027206A1F5}"/>
              </a:ext>
            </a:extLst>
          </p:cNvPr>
          <p:cNvPicPr>
            <a:picLocks noChangeAspect="1"/>
          </p:cNvPicPr>
          <p:nvPr/>
        </p:nvPicPr>
        <p:blipFill>
          <a:blip r:embed="rId3"/>
          <a:stretch>
            <a:fillRect/>
          </a:stretch>
        </p:blipFill>
        <p:spPr>
          <a:xfrm>
            <a:off x="6812340" y="2065867"/>
            <a:ext cx="4524170" cy="2154636"/>
          </a:xfrm>
          <a:prstGeom prst="rect">
            <a:avLst/>
          </a:prstGeom>
        </p:spPr>
      </p:pic>
      <p:pic>
        <p:nvPicPr>
          <p:cNvPr id="21" name="Picture 20">
            <a:extLst>
              <a:ext uri="{FF2B5EF4-FFF2-40B4-BE49-F238E27FC236}">
                <a16:creationId xmlns:a16="http://schemas.microsoft.com/office/drawing/2014/main" id="{EEF0D574-560E-D849-B4D3-8FFF528F5FC9}"/>
              </a:ext>
            </a:extLst>
          </p:cNvPr>
          <p:cNvPicPr>
            <a:picLocks noChangeAspect="1"/>
          </p:cNvPicPr>
          <p:nvPr/>
        </p:nvPicPr>
        <p:blipFill>
          <a:blip r:embed="rId4"/>
          <a:stretch>
            <a:fillRect/>
          </a:stretch>
        </p:blipFill>
        <p:spPr>
          <a:xfrm>
            <a:off x="3833914" y="4510543"/>
            <a:ext cx="4524171" cy="2140498"/>
          </a:xfrm>
          <a:prstGeom prst="rect">
            <a:avLst/>
          </a:prstGeom>
        </p:spPr>
      </p:pic>
    </p:spTree>
    <p:extLst>
      <p:ext uri="{BB962C8B-B14F-4D97-AF65-F5344CB8AC3E}">
        <p14:creationId xmlns:p14="http://schemas.microsoft.com/office/powerpoint/2010/main" val="2093218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C35BC-B7D2-50DD-1E5E-E9F7A1460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19679-7F42-E500-5555-FEA04323A9B7}"/>
              </a:ext>
            </a:extLst>
          </p:cNvPr>
          <p:cNvSpPr>
            <a:spLocks noGrp="1"/>
          </p:cNvSpPr>
          <p:nvPr>
            <p:ph type="title"/>
          </p:nvPr>
        </p:nvSpPr>
        <p:spPr/>
        <p:txBody>
          <a:bodyPr/>
          <a:lstStyle/>
          <a:p>
            <a:r>
              <a:rPr lang="en-US" b="1" dirty="0">
                <a:latin typeface="Constantia" panose="02030602050306030303" pitchFamily="18" charset="0"/>
              </a:rPr>
              <a:t>WEBPAGE SCREENSHOTS</a:t>
            </a:r>
            <a:endParaRPr lang="en-IN" dirty="0">
              <a:latin typeface="Constantia" panose="02030602050306030303" pitchFamily="18" charset="0"/>
            </a:endParaRPr>
          </a:p>
        </p:txBody>
      </p:sp>
      <p:pic>
        <p:nvPicPr>
          <p:cNvPr id="6" name="Content Placeholder 5">
            <a:extLst>
              <a:ext uri="{FF2B5EF4-FFF2-40B4-BE49-F238E27FC236}">
                <a16:creationId xmlns:a16="http://schemas.microsoft.com/office/drawing/2014/main" id="{E1938915-28A2-447F-B249-760598EF292D}"/>
              </a:ext>
            </a:extLst>
          </p:cNvPr>
          <p:cNvPicPr>
            <a:picLocks noGrp="1" noChangeAspect="1"/>
          </p:cNvPicPr>
          <p:nvPr>
            <p:ph idx="1"/>
          </p:nvPr>
        </p:nvPicPr>
        <p:blipFill>
          <a:blip r:embed="rId2"/>
          <a:stretch>
            <a:fillRect/>
          </a:stretch>
        </p:blipFill>
        <p:spPr>
          <a:xfrm>
            <a:off x="940900" y="2065867"/>
            <a:ext cx="4573073" cy="2132195"/>
          </a:xfrm>
        </p:spPr>
      </p:pic>
      <p:pic>
        <p:nvPicPr>
          <p:cNvPr id="8" name="Picture 7">
            <a:extLst>
              <a:ext uri="{FF2B5EF4-FFF2-40B4-BE49-F238E27FC236}">
                <a16:creationId xmlns:a16="http://schemas.microsoft.com/office/drawing/2014/main" id="{695C675B-D419-92A0-1DC6-DF2DF84F1506}"/>
              </a:ext>
            </a:extLst>
          </p:cNvPr>
          <p:cNvPicPr>
            <a:picLocks noChangeAspect="1"/>
          </p:cNvPicPr>
          <p:nvPr/>
        </p:nvPicPr>
        <p:blipFill>
          <a:blip r:embed="rId3"/>
          <a:stretch>
            <a:fillRect/>
          </a:stretch>
        </p:blipFill>
        <p:spPr>
          <a:xfrm>
            <a:off x="6678029" y="2065867"/>
            <a:ext cx="4573073" cy="2132195"/>
          </a:xfrm>
          <a:prstGeom prst="rect">
            <a:avLst/>
          </a:prstGeom>
        </p:spPr>
      </p:pic>
      <p:pic>
        <p:nvPicPr>
          <p:cNvPr id="10" name="Picture 9">
            <a:extLst>
              <a:ext uri="{FF2B5EF4-FFF2-40B4-BE49-F238E27FC236}">
                <a16:creationId xmlns:a16="http://schemas.microsoft.com/office/drawing/2014/main" id="{E8705BF2-B4B4-5AF1-A0D2-BC432340BA56}"/>
              </a:ext>
            </a:extLst>
          </p:cNvPr>
          <p:cNvPicPr>
            <a:picLocks noChangeAspect="1"/>
          </p:cNvPicPr>
          <p:nvPr/>
        </p:nvPicPr>
        <p:blipFill>
          <a:blip r:embed="rId4"/>
          <a:stretch>
            <a:fillRect/>
          </a:stretch>
        </p:blipFill>
        <p:spPr>
          <a:xfrm>
            <a:off x="3809463" y="4441319"/>
            <a:ext cx="4573074" cy="2126479"/>
          </a:xfrm>
          <a:prstGeom prst="rect">
            <a:avLst/>
          </a:prstGeom>
        </p:spPr>
      </p:pic>
    </p:spTree>
    <p:extLst>
      <p:ext uri="{BB962C8B-B14F-4D97-AF65-F5344CB8AC3E}">
        <p14:creationId xmlns:p14="http://schemas.microsoft.com/office/powerpoint/2010/main" val="4121580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1B0EE-14B7-28A7-7B4B-DA6F16907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CFBA8-A0F8-6672-C78D-BCC5D69CCBD8}"/>
              </a:ext>
            </a:extLst>
          </p:cNvPr>
          <p:cNvSpPr>
            <a:spLocks noGrp="1"/>
          </p:cNvSpPr>
          <p:nvPr>
            <p:ph type="title"/>
          </p:nvPr>
        </p:nvSpPr>
        <p:spPr/>
        <p:txBody>
          <a:bodyPr/>
          <a:lstStyle/>
          <a:p>
            <a:r>
              <a:rPr lang="en-US" dirty="0">
                <a:latin typeface="Constantia" panose="02030602050306030303" pitchFamily="18" charset="0"/>
              </a:rPr>
              <a:t>methodology</a:t>
            </a:r>
            <a:endParaRPr lang="en-IN" dirty="0">
              <a:latin typeface="Constantia" panose="02030602050306030303" pitchFamily="18" charset="0"/>
            </a:endParaRPr>
          </a:p>
        </p:txBody>
      </p:sp>
      <p:sp>
        <p:nvSpPr>
          <p:cNvPr id="3" name="Content Placeholder 2">
            <a:extLst>
              <a:ext uri="{FF2B5EF4-FFF2-40B4-BE49-F238E27FC236}">
                <a16:creationId xmlns:a16="http://schemas.microsoft.com/office/drawing/2014/main" id="{AD8A414B-C570-94D9-6F33-1882F3B9587D}"/>
              </a:ext>
            </a:extLst>
          </p:cNvPr>
          <p:cNvSpPr>
            <a:spLocks noGrp="1"/>
          </p:cNvSpPr>
          <p:nvPr>
            <p:ph idx="1"/>
          </p:nvPr>
        </p:nvSpPr>
        <p:spPr>
          <a:xfrm>
            <a:off x="685801" y="2142067"/>
            <a:ext cx="10131425" cy="4106333"/>
          </a:xfrm>
        </p:spPr>
        <p:txBody>
          <a:bodyPr>
            <a:normAutofit fontScale="85000" lnSpcReduction="20000"/>
          </a:bodyPr>
          <a:lstStyle/>
          <a:p>
            <a:pPr marL="342900" indent="-342900">
              <a:buAutoNum type="arabicPeriod"/>
            </a:pPr>
            <a:r>
              <a:rPr lang="en-US" b="1" dirty="0"/>
              <a:t>User Access and Location Selection :The user accesses the Q-SMART web platform through a browser and views the dashboard displaying predicted crowd information for multiple locations. The user may select a specific location to obtain detailed crowd status</a:t>
            </a:r>
          </a:p>
          <a:p>
            <a:pPr marL="342900" indent="-342900">
              <a:buAutoNum type="arabicPeriod"/>
            </a:pPr>
            <a:r>
              <a:rPr lang="en-US" b="1" dirty="0"/>
              <a:t>Baseline Data Retrieval :The system retrieves historical baseline crowd data corresponding to the selected location, current day, and nearest relevant time interval. This data represents typical crowd behavior patterns</a:t>
            </a:r>
          </a:p>
          <a:p>
            <a:pPr marL="342900" indent="-342900">
              <a:buAutoNum type="arabicPeriod"/>
            </a:pPr>
            <a:r>
              <a:rPr lang="en-US" b="1" dirty="0"/>
              <a:t>Queue Registration Handling :If the user chooses to join a queue, the system records the registration with a timestamp in the database. This data reflects the current demand at the selected location</a:t>
            </a:r>
          </a:p>
          <a:p>
            <a:pPr marL="342900" indent="-342900">
              <a:buAutoNum type="arabicPeriod"/>
            </a:pPr>
            <a:r>
              <a:rPr lang="en-US" b="1" dirty="0"/>
              <a:t>Data Integration and Prediction :The predictive engine combines the baseline crowd data with active queue registrations to calculate the expected crowd level for the location</a:t>
            </a:r>
          </a:p>
          <a:p>
            <a:pPr marL="342900" indent="-342900">
              <a:buAutoNum type="arabicPeriod"/>
            </a:pPr>
            <a:r>
              <a:rPr lang="en-US" b="1" dirty="0"/>
              <a:t>Crowd Classification and Waiting Time Estimation :Based on the predicted crowd value, the system classifies congestion levels as low, moderate, or high and estimates waiting time using predefined service capacity parameters</a:t>
            </a:r>
          </a:p>
          <a:p>
            <a:pPr marL="342900" indent="-342900">
              <a:buAutoNum type="arabicPeriod"/>
            </a:pPr>
            <a:r>
              <a:rPr lang="en-US" b="1" dirty="0"/>
              <a:t>Best Time Recommendation :The system analyzes historical crowd trends to identify and suggest the optimal time period with the lowest expected congestion for the selected location</a:t>
            </a:r>
          </a:p>
          <a:p>
            <a:pPr marL="342900" indent="-342900">
              <a:buAutoNum type="arabicPeriod"/>
            </a:pPr>
            <a:r>
              <a:rPr lang="en-US" b="1" dirty="0"/>
              <a:t>Automatic Data Cleanup :Outdated queue registrations are automatically removed after a fixed duration to ensure data accuracy and relevance</a:t>
            </a:r>
          </a:p>
          <a:p>
            <a:pPr marL="342900" indent="-342900">
              <a:buAutoNum type="arabicPeriod"/>
            </a:pPr>
            <a:r>
              <a:rPr lang="en-US" b="1" dirty="0"/>
              <a:t>Result Presentation :The computed results are displayed to the user through an intuitive interface, enabling informed visit planning and congestion avoidance</a:t>
            </a:r>
            <a:endParaRPr lang="en-US" dirty="0"/>
          </a:p>
        </p:txBody>
      </p:sp>
    </p:spTree>
    <p:extLst>
      <p:ext uri="{BB962C8B-B14F-4D97-AF65-F5344CB8AC3E}">
        <p14:creationId xmlns:p14="http://schemas.microsoft.com/office/powerpoint/2010/main" val="340874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1FD7E-C403-B378-033A-D5B6A8E62B94}"/>
              </a:ext>
            </a:extLst>
          </p:cNvPr>
          <p:cNvSpPr>
            <a:spLocks noGrp="1"/>
          </p:cNvSpPr>
          <p:nvPr>
            <p:ph type="title"/>
          </p:nvPr>
        </p:nvSpPr>
        <p:spPr/>
        <p:txBody>
          <a:bodyPr/>
          <a:lstStyle/>
          <a:p>
            <a:r>
              <a:rPr lang="en-IN" dirty="0">
                <a:latin typeface="Constantia" panose="02030602050306030303" pitchFamily="18" charset="0"/>
              </a:rPr>
              <a:t>Comparison &amp; Competitive Edge</a:t>
            </a:r>
          </a:p>
        </p:txBody>
      </p:sp>
      <p:sp>
        <p:nvSpPr>
          <p:cNvPr id="3" name="Content Placeholder 2">
            <a:extLst>
              <a:ext uri="{FF2B5EF4-FFF2-40B4-BE49-F238E27FC236}">
                <a16:creationId xmlns:a16="http://schemas.microsoft.com/office/drawing/2014/main" id="{5013DB28-F3AD-6926-39EA-2B84E751033B}"/>
              </a:ext>
            </a:extLst>
          </p:cNvPr>
          <p:cNvSpPr>
            <a:spLocks noGrp="1"/>
          </p:cNvSpPr>
          <p:nvPr>
            <p:ph idx="1"/>
          </p:nvPr>
        </p:nvSpPr>
        <p:spPr/>
        <p:txBody>
          <a:bodyPr>
            <a:normAutofit fontScale="92500"/>
          </a:bodyPr>
          <a:lstStyle/>
          <a:p>
            <a:pPr marL="0" indent="0">
              <a:buNone/>
            </a:pPr>
            <a:r>
              <a:rPr lang="en-US" b="1" dirty="0"/>
              <a:t>Traditional crowd and queue management systems largely depend on manual monitoring, physical tokens, surveillance cameras, or sensor-based counting mechanisms. These approaches are often expensive to deploy, limited to specific locations, and difficult to scale across multiple public spaces. Additionally, most existing systems provide only reactive information, offering insights after congestion has already occurred.</a:t>
            </a:r>
          </a:p>
          <a:p>
            <a:pPr marL="0" indent="0">
              <a:buNone/>
            </a:pPr>
            <a:r>
              <a:rPr lang="en-US" b="1" dirty="0"/>
              <a:t>In contrast, Q-SMART adopts a predictive and software-driven approach to congestion management. By combining historical crowd patterns with real-time queue registrations, the system estimates expected crowd levels and waiting times before users arrive at a location. Unlike hardware-dependent solutions, Q-SMART requires no additional infrastructure, making it cost-effective and easy to deploy across diverse environments.</a:t>
            </a:r>
          </a:p>
          <a:p>
            <a:pPr marL="0" indent="0">
              <a:buNone/>
            </a:pPr>
            <a:r>
              <a:rPr lang="en-US" b="1" dirty="0"/>
              <a:t>The competitive edge of Q-SMART lies in its scalability, privacy-preserving design, and multi-location monitoring capability. The platform supports proactive visit planning, provides best-time recommendations, and operates entirely through a web-based interface. These features enable Q-SMART to offer a flexible, efficient, and user-centric alternative to conventional crowd management solutions</a:t>
            </a:r>
            <a:endParaRPr lang="en-IN" dirty="0"/>
          </a:p>
        </p:txBody>
      </p:sp>
    </p:spTree>
    <p:extLst>
      <p:ext uri="{BB962C8B-B14F-4D97-AF65-F5344CB8AC3E}">
        <p14:creationId xmlns:p14="http://schemas.microsoft.com/office/powerpoint/2010/main" val="1774080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D8E90-6274-CD6A-01F3-99F60C3D71B5}"/>
              </a:ext>
            </a:extLst>
          </p:cNvPr>
          <p:cNvSpPr>
            <a:spLocks noGrp="1"/>
          </p:cNvSpPr>
          <p:nvPr>
            <p:ph type="title"/>
          </p:nvPr>
        </p:nvSpPr>
        <p:spPr/>
        <p:txBody>
          <a:bodyPr/>
          <a:lstStyle/>
          <a:p>
            <a:r>
              <a:rPr lang="en-IN" dirty="0">
                <a:latin typeface="Constantia" panose="02030602050306030303" pitchFamily="18" charset="0"/>
              </a:rPr>
              <a:t>Socio-Economic Impact</a:t>
            </a:r>
          </a:p>
        </p:txBody>
      </p:sp>
      <p:sp>
        <p:nvSpPr>
          <p:cNvPr id="3" name="Content Placeholder 2">
            <a:extLst>
              <a:ext uri="{FF2B5EF4-FFF2-40B4-BE49-F238E27FC236}">
                <a16:creationId xmlns:a16="http://schemas.microsoft.com/office/drawing/2014/main" id="{EA5158B6-10B2-04D4-4D0F-C4EBA5C4F46A}"/>
              </a:ext>
            </a:extLst>
          </p:cNvPr>
          <p:cNvSpPr>
            <a:spLocks noGrp="1"/>
          </p:cNvSpPr>
          <p:nvPr>
            <p:ph idx="1"/>
          </p:nvPr>
        </p:nvSpPr>
        <p:spPr>
          <a:xfrm>
            <a:off x="685801" y="2142067"/>
            <a:ext cx="10131425" cy="4209572"/>
          </a:xfrm>
        </p:spPr>
        <p:txBody>
          <a:bodyPr>
            <a:normAutofit/>
          </a:bodyPr>
          <a:lstStyle/>
          <a:p>
            <a:pPr marL="0" indent="0">
              <a:buNone/>
            </a:pPr>
            <a:r>
              <a:rPr lang="en-US" b="1" dirty="0"/>
              <a:t>Q-SMART contributes positively to society by reducing overcrowding and waiting times at essential public and commercial locations. By enabling users to plan visits during less congested periods, the system helps improve service accessibility, user comfort, and overall public satisfaction. Reduced congestion also enhances safety, particularly in high-risk or high-traffic environments such as hospitals and transportation hubs.</a:t>
            </a:r>
          </a:p>
          <a:p>
            <a:pPr marL="0" indent="0">
              <a:buNone/>
            </a:pPr>
            <a:r>
              <a:rPr lang="en-US" b="1" dirty="0"/>
              <a:t>From an economic perspective, Q-SMART supports more efficient utilization of public infrastructure and services. Optimized crowd distribution reduces operational strain on service providers, minimizes idle time, and improves productivity. Since the system is software-based and does not require additional hardware, it significantly lowers deployment and maintenance costs, making it suitable for large-scale adoption.</a:t>
            </a:r>
          </a:p>
          <a:p>
            <a:pPr marL="0" indent="0">
              <a:buNone/>
            </a:pPr>
            <a:r>
              <a:rPr lang="en-US" b="1" dirty="0"/>
              <a:t>Additionally, the privacy-preserving design of Q-SMART ensures ethical data usage by avoiding the collection of personal information. By promoting informed decision-making and efficient urban mobility, Q-SMART supports smarter cities, sustainable public services, and improved quality of life for citizens.</a:t>
            </a:r>
            <a:endParaRPr lang="en-IN" dirty="0"/>
          </a:p>
        </p:txBody>
      </p:sp>
    </p:spTree>
    <p:extLst>
      <p:ext uri="{BB962C8B-B14F-4D97-AF65-F5344CB8AC3E}">
        <p14:creationId xmlns:p14="http://schemas.microsoft.com/office/powerpoint/2010/main" val="939225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03AF-647B-F463-06F0-64BDF12C243B}"/>
              </a:ext>
            </a:extLst>
          </p:cNvPr>
          <p:cNvSpPr>
            <a:spLocks noGrp="1"/>
          </p:cNvSpPr>
          <p:nvPr>
            <p:ph type="title"/>
          </p:nvPr>
        </p:nvSpPr>
        <p:spPr/>
        <p:txBody>
          <a:bodyPr/>
          <a:lstStyle/>
          <a:p>
            <a:r>
              <a:rPr lang="en-IN" dirty="0">
                <a:latin typeface="Constantia" panose="02030602050306030303" pitchFamily="18" charset="0"/>
              </a:rPr>
              <a:t>Conclusion &amp; The Path Forward</a:t>
            </a:r>
          </a:p>
        </p:txBody>
      </p:sp>
      <p:sp>
        <p:nvSpPr>
          <p:cNvPr id="3" name="Content Placeholder 2">
            <a:extLst>
              <a:ext uri="{FF2B5EF4-FFF2-40B4-BE49-F238E27FC236}">
                <a16:creationId xmlns:a16="http://schemas.microsoft.com/office/drawing/2014/main" id="{990FB0E5-F6B2-6726-180C-40973616C8D9}"/>
              </a:ext>
            </a:extLst>
          </p:cNvPr>
          <p:cNvSpPr>
            <a:spLocks noGrp="1"/>
          </p:cNvSpPr>
          <p:nvPr>
            <p:ph idx="1"/>
          </p:nvPr>
        </p:nvSpPr>
        <p:spPr/>
        <p:txBody>
          <a:bodyPr>
            <a:normAutofit fontScale="92500" lnSpcReduction="10000"/>
          </a:bodyPr>
          <a:lstStyle/>
          <a:p>
            <a:pPr marL="0" indent="0">
              <a:buNone/>
            </a:pPr>
            <a:r>
              <a:rPr lang="en-US" b="1" dirty="0"/>
              <a:t>Q-SMART by </a:t>
            </a:r>
            <a:r>
              <a:rPr lang="en-US" b="1" dirty="0" err="1"/>
              <a:t>UrbanX</a:t>
            </a:r>
            <a:r>
              <a:rPr lang="en-US" b="1" dirty="0"/>
              <a:t> presents an effective, software-based solution for predicting crowd levels and managing queues across multiple public and commercial locations. By integrating historical crowd patterns with real-time queue registrations, the system provides reliable predictions of expected crowd density, waiting times, and optimal visiting periods. The platform’s scalable, privacy-preserving, and hardware-independent design makes it suitable for wide deployment in urban environments.</a:t>
            </a:r>
          </a:p>
          <a:p>
            <a:pPr marL="0" indent="0">
              <a:buNone/>
            </a:pPr>
            <a:r>
              <a:rPr lang="en-US" b="1" dirty="0"/>
              <a:t>The current implementation demonstrates the feasibility of proactive crowd management using lightweight predictive logic and user participation. Through features such as multi-location dashboards, crowd classification, and automatic data cleanup, Q-SMART enhances user decision-making and improves service accessibility.</a:t>
            </a:r>
          </a:p>
          <a:p>
            <a:pPr marL="0" indent="0">
              <a:buNone/>
            </a:pPr>
            <a:r>
              <a:rPr lang="en-US" b="1" dirty="0"/>
              <a:t>As a path forward, the system can be further enhanced by incorporating larger datasets, advanced predictive models, location-specific service capacities, and mobile application support. Integration with public information systems and analytics dashboards could also enable administrators to monitor congestion trends and optimize resource allocation. These extensions would strengthen Q-SMART’s role as a comprehensive smart-city solution for congestion mitigation and urban planning.</a:t>
            </a:r>
            <a:endParaRPr lang="en-IN" dirty="0"/>
          </a:p>
        </p:txBody>
      </p:sp>
    </p:spTree>
    <p:extLst>
      <p:ext uri="{BB962C8B-B14F-4D97-AF65-F5344CB8AC3E}">
        <p14:creationId xmlns:p14="http://schemas.microsoft.com/office/powerpoint/2010/main" val="42596490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3.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TM03457452[[fn=Celestial]]</Template>
  <TotalTime>205</TotalTime>
  <Words>2071</Words>
  <Application>Microsoft Office PowerPoint</Application>
  <PresentationFormat>Widescreen</PresentationFormat>
  <Paragraphs>67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Baskerville Old Face</vt:lpstr>
      <vt:lpstr>Calibri</vt:lpstr>
      <vt:lpstr>Calibri Light</vt:lpstr>
      <vt:lpstr>Constantia</vt:lpstr>
      <vt:lpstr>Celestial</vt:lpstr>
      <vt:lpstr> Q-SMART</vt:lpstr>
      <vt:lpstr>Introduction</vt:lpstr>
      <vt:lpstr>The Crisis of Congestion</vt:lpstr>
      <vt:lpstr>The Q-SMART Paradigm</vt:lpstr>
      <vt:lpstr>The Predictive Engine</vt:lpstr>
      <vt:lpstr>Technical Architecture</vt:lpstr>
      <vt:lpstr>The User Journey</vt:lpstr>
      <vt:lpstr>The system architecture</vt:lpstr>
      <vt:lpstr>WEBPAGE SCREENSHOTS</vt:lpstr>
      <vt:lpstr>WEBPAGE SCREENSHOTS</vt:lpstr>
      <vt:lpstr>methodology</vt:lpstr>
      <vt:lpstr>Comparison &amp; Competitive Edge</vt:lpstr>
      <vt:lpstr>Socio-Economic Impact</vt:lpstr>
      <vt:lpstr>Conclusion &amp; The Path Forward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Neeraj P Raju</dc:creator>
  <cp:lastModifiedBy>nafih nazar</cp:lastModifiedBy>
  <cp:revision>2</cp:revision>
  <dcterms:created xsi:type="dcterms:W3CDTF">2026-01-09T15:01:42Z</dcterms:created>
  <dcterms:modified xsi:type="dcterms:W3CDTF">2026-01-10T00:17:53Z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